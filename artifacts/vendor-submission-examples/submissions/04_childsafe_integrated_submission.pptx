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AB9B7ED-6918-413F-8D57-BBEF7FC71053}">
  <a:tblStyle styleId="{EAB9B7ED-6918-413F-8D57-BBEF7FC7105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4" Type="http://schemas.openxmlformats.org/officeDocument/2006/relationships/slide" Target="slides/slide8.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de8132498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de8132498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de8132498c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de8132498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de8132498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de8132498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de8132498c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de8132498c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de8132498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de8132498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de8132498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de8132498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de8132498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de8132498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365750" y="552225"/>
            <a:ext cx="8663400" cy="1600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2300"/>
              </a:spcBef>
              <a:spcAft>
                <a:spcPts val="0"/>
              </a:spcAft>
              <a:buNone/>
            </a:pPr>
            <a:r>
              <a:rPr b="1" lang="en-GB" sz="1600">
                <a:solidFill>
                  <a:schemeClr val="dk1"/>
                </a:solidFill>
                <a:highlight>
                  <a:srgbClr val="FFFFFF"/>
                </a:highlight>
              </a:rPr>
              <a:t>ChildSafe Integrated Submission</a:t>
            </a:r>
            <a:endParaRPr b="1" sz="1600">
              <a:solidFill>
                <a:schemeClr val="dk1"/>
              </a:solidFill>
              <a:highlight>
                <a:srgbClr val="FFFFFF"/>
              </a:highlight>
            </a:endParaRPr>
          </a:p>
          <a:p>
            <a:pPr indent="0" lvl="0" marL="0" rtl="0" algn="l">
              <a:lnSpc>
                <a:spcPct val="115000"/>
              </a:lnSpc>
              <a:spcBef>
                <a:spcPts val="1200"/>
              </a:spcBef>
              <a:spcAft>
                <a:spcPts val="0"/>
              </a:spcAft>
              <a:buNone/>
            </a:pPr>
            <a:r>
              <a:rPr lang="en-GB" sz="1600">
                <a:solidFill>
                  <a:srgbClr val="333333"/>
                </a:solidFill>
                <a:highlight>
                  <a:srgbClr val="FFFFFF"/>
                </a:highlight>
              </a:rPr>
              <a:t>Prepared by: ChildSafe Integrated Advisory + Studio | Contact: Michael Osei | Currency: USD</a:t>
            </a:r>
            <a:endParaRPr sz="1600">
              <a:solidFill>
                <a:srgbClr val="333333"/>
              </a:solidFill>
              <a:highlight>
                <a:srgbClr val="FFFFFF"/>
              </a:highlight>
            </a:endParaRPr>
          </a:p>
          <a:p>
            <a:pPr indent="0" lvl="0" marL="0" rtl="0" algn="l">
              <a:lnSpc>
                <a:spcPct val="115000"/>
              </a:lnSpc>
              <a:spcBef>
                <a:spcPts val="1200"/>
              </a:spcBef>
              <a:spcAft>
                <a:spcPts val="1200"/>
              </a:spcAft>
              <a:buNone/>
            </a:pPr>
            <a:r>
              <a:rPr lang="en-GB" sz="1600">
                <a:solidFill>
                  <a:srgbClr val="333333"/>
                </a:solidFill>
                <a:highlight>
                  <a:srgbClr val="FFFFFF"/>
                </a:highlight>
              </a:rPr>
              <a:t>RFQ Reference: RFQ-MKT-KIDS-GL-2026-001 - RFQ for global launch marketing services for new kids health drink</a:t>
            </a:r>
            <a:endParaRPr sz="1600">
              <a:solidFill>
                <a:srgbClr val="333333"/>
              </a:solidFill>
              <a:highlight>
                <a:srgbClr val="FFFFFF"/>
              </a:high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nvSpPr>
        <p:spPr>
          <a:xfrm>
            <a:off x="288600" y="487700"/>
            <a:ext cx="8566800" cy="43041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1700"/>
              </a:spcBef>
              <a:spcAft>
                <a:spcPts val="0"/>
              </a:spcAft>
              <a:buNone/>
            </a:pPr>
            <a:r>
              <a:rPr b="1" lang="en-GB">
                <a:solidFill>
                  <a:schemeClr val="dk1"/>
                </a:solidFill>
                <a:highlight>
                  <a:srgbClr val="FFFFFF"/>
                </a:highlight>
              </a:rPr>
              <a:t>Executive Summary</a:t>
            </a:r>
            <a:endParaRPr b="1">
              <a:solidFill>
                <a:schemeClr val="dk1"/>
              </a:solidFill>
              <a:highlight>
                <a:srgbClr val="FFFFFF"/>
              </a:highlight>
            </a:endParaRPr>
          </a:p>
          <a:p>
            <a:pPr indent="0" lvl="0" marL="0" rtl="0" algn="l">
              <a:lnSpc>
                <a:spcPct val="115000"/>
              </a:lnSpc>
              <a:spcBef>
                <a:spcPts val="1200"/>
              </a:spcBef>
              <a:spcAft>
                <a:spcPts val="0"/>
              </a:spcAft>
              <a:buNone/>
            </a:pPr>
            <a:r>
              <a:rPr lang="en-GB">
                <a:solidFill>
                  <a:srgbClr val="333333"/>
                </a:solidFill>
                <a:highlight>
                  <a:srgbClr val="FFFFFF"/>
                </a:highlight>
              </a:rPr>
              <a:t>ChildSafe Integrated is submitting a compliance-first integrated proposal covering the full scope. Our offer is designed to minimize delivery risk and create the most robust technical control environment, though it is priced above more commercially aggressive competitors.</a:t>
            </a:r>
            <a:endParaRPr>
              <a:solidFill>
                <a:srgbClr val="333333"/>
              </a:solidFill>
              <a:highlight>
                <a:srgbClr val="FFFFFF"/>
              </a:highlight>
            </a:endParaRPr>
          </a:p>
          <a:p>
            <a:pPr indent="0" lvl="0" marL="0" rtl="0" algn="l">
              <a:lnSpc>
                <a:spcPct val="120000"/>
              </a:lnSpc>
              <a:spcBef>
                <a:spcPts val="1700"/>
              </a:spcBef>
              <a:spcAft>
                <a:spcPts val="0"/>
              </a:spcAft>
              <a:buNone/>
            </a:pPr>
            <a:r>
              <a:rPr b="1" lang="en-GB">
                <a:solidFill>
                  <a:schemeClr val="dk1"/>
                </a:solidFill>
                <a:highlight>
                  <a:srgbClr val="FFFFFF"/>
                </a:highlight>
              </a:rPr>
              <a:t>Agency Overview</a:t>
            </a:r>
            <a:endParaRPr b="1">
              <a:solidFill>
                <a:schemeClr val="dk1"/>
              </a:solidFill>
              <a:highlight>
                <a:srgbClr val="FFFFFF"/>
              </a:highlight>
            </a:endParaRPr>
          </a:p>
          <a:p>
            <a:pPr indent="0" lvl="0" marL="0" rtl="0" algn="l">
              <a:lnSpc>
                <a:spcPct val="115000"/>
              </a:lnSpc>
              <a:spcBef>
                <a:spcPts val="1200"/>
              </a:spcBef>
              <a:spcAft>
                <a:spcPts val="0"/>
              </a:spcAft>
              <a:buNone/>
            </a:pPr>
            <a:r>
              <a:rPr lang="en-GB">
                <a:solidFill>
                  <a:srgbClr val="333333"/>
                </a:solidFill>
                <a:highlight>
                  <a:srgbClr val="FFFFFF"/>
                </a:highlight>
              </a:rPr>
              <a:t>ChildSafe Integrated combines launch strategy, regulated creative operations, production management, media activation, and specialist claims-review capability in one program architecture. We are typically chosen when the buyer wants strong governance, full auditability, and visible control over approvals and risk rather than the lightest operating footprint.</a:t>
            </a:r>
            <a:endParaRPr>
              <a:solidFill>
                <a:srgbClr val="333333"/>
              </a:solidFill>
              <a:highlight>
                <a:srgbClr val="FFFFFF"/>
              </a:highlight>
            </a:endParaRPr>
          </a:p>
          <a:p>
            <a:pPr indent="0" lvl="0" marL="0" rtl="0" algn="l">
              <a:lnSpc>
                <a:spcPct val="120000"/>
              </a:lnSpc>
              <a:spcBef>
                <a:spcPts val="1700"/>
              </a:spcBef>
              <a:spcAft>
                <a:spcPts val="0"/>
              </a:spcAft>
              <a:buNone/>
            </a:pPr>
            <a:r>
              <a:rPr b="1" lang="en-GB">
                <a:solidFill>
                  <a:schemeClr val="dk1"/>
                </a:solidFill>
                <a:highlight>
                  <a:srgbClr val="FFFFFF"/>
                </a:highlight>
              </a:rPr>
              <a:t>Our Pitch</a:t>
            </a:r>
            <a:endParaRPr b="1">
              <a:solidFill>
                <a:schemeClr val="dk1"/>
              </a:solidFill>
              <a:highlight>
                <a:srgbClr val="FFFFFF"/>
              </a:highlight>
            </a:endParaRPr>
          </a:p>
          <a:p>
            <a:pPr indent="0" lvl="0" marL="0" rtl="0" algn="l">
              <a:lnSpc>
                <a:spcPct val="115000"/>
              </a:lnSpc>
              <a:spcBef>
                <a:spcPts val="1200"/>
              </a:spcBef>
              <a:spcAft>
                <a:spcPts val="1200"/>
              </a:spcAft>
              <a:buNone/>
            </a:pPr>
            <a:r>
              <a:rPr lang="en-GB">
                <a:solidFill>
                  <a:srgbClr val="333333"/>
                </a:solidFill>
                <a:highlight>
                  <a:srgbClr val="FFFFFF"/>
                </a:highlight>
              </a:rPr>
              <a:t>Our recommended platform, </a:t>
            </a:r>
            <a:r>
              <a:rPr b="1" lang="en-GB">
                <a:solidFill>
                  <a:schemeClr val="dk1"/>
                </a:solidFill>
                <a:highlight>
                  <a:srgbClr val="FFFFFF"/>
                </a:highlight>
              </a:rPr>
              <a:t>Ready for Every Day</a:t>
            </a:r>
            <a:r>
              <a:rPr lang="en-GB">
                <a:solidFill>
                  <a:srgbClr val="333333"/>
                </a:solidFill>
                <a:highlight>
                  <a:srgbClr val="FFFFFF"/>
                </a:highlight>
              </a:rPr>
              <a:t>, is built to make the brand feel reassuring, modern, and consistently compliant across markets. The creative expression is designed to stay attractive while remaining highly reviewable and easy to adapt under regulatory scrutiny.</a:t>
            </a:r>
            <a:endParaRPr>
              <a:solidFill>
                <a:srgbClr val="333333"/>
              </a:solidFill>
              <a:highlight>
                <a:srgbClr val="FFFFFF"/>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nvSpPr>
        <p:spPr>
          <a:xfrm>
            <a:off x="0" y="0"/>
            <a:ext cx="8907300" cy="44172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1700"/>
              </a:spcBef>
              <a:spcAft>
                <a:spcPts val="0"/>
              </a:spcAft>
              <a:buNone/>
            </a:pPr>
            <a:r>
              <a:rPr b="1" lang="en-GB">
                <a:solidFill>
                  <a:schemeClr val="dk1"/>
                </a:solidFill>
                <a:highlight>
                  <a:srgbClr val="FFFFFF"/>
                </a:highlight>
              </a:rPr>
              <a:t>Delivery Team Snapshot</a:t>
            </a:r>
            <a:endParaRPr b="1">
              <a:solidFill>
                <a:schemeClr val="dk1"/>
              </a:solidFill>
              <a:highlight>
                <a:srgbClr val="FFFFFF"/>
              </a:highlight>
            </a:endParaRPr>
          </a:p>
          <a:p>
            <a:pPr indent="-317500" lvl="0" marL="457200" rtl="0" algn="l">
              <a:lnSpc>
                <a:spcPct val="115000"/>
              </a:lnSpc>
              <a:spcBef>
                <a:spcPts val="1200"/>
              </a:spcBef>
              <a:spcAft>
                <a:spcPts val="0"/>
              </a:spcAft>
              <a:buClr>
                <a:srgbClr val="333333"/>
              </a:buClr>
              <a:buSzPts val="1400"/>
              <a:buChar char="●"/>
            </a:pPr>
            <a:r>
              <a:rPr lang="en-GB">
                <a:solidFill>
                  <a:srgbClr val="333333"/>
                </a:solidFill>
                <a:highlight>
                  <a:srgbClr val="FFFFFF"/>
                </a:highlight>
              </a:rPr>
              <a:t>Michael Osei, Managing Program Lead: executive sponsor, escalation owner, and governance chair.</a:t>
            </a:r>
            <a:endParaRPr>
              <a:solidFill>
                <a:srgbClr val="333333"/>
              </a:solidFill>
              <a:highlight>
                <a:srgbClr val="FFFFFF"/>
              </a:highlight>
            </a:endParaRPr>
          </a:p>
          <a:p>
            <a:pPr indent="-317500" lvl="0" marL="457200" rtl="0" algn="l">
              <a:lnSpc>
                <a:spcPct val="115000"/>
              </a:lnSpc>
              <a:spcBef>
                <a:spcPts val="0"/>
              </a:spcBef>
              <a:spcAft>
                <a:spcPts val="0"/>
              </a:spcAft>
              <a:buClr>
                <a:srgbClr val="333333"/>
              </a:buClr>
              <a:buSzPts val="1400"/>
              <a:buChar char="●"/>
            </a:pPr>
            <a:r>
              <a:rPr lang="en-GB">
                <a:solidFill>
                  <a:srgbClr val="333333"/>
                </a:solidFill>
                <a:highlight>
                  <a:srgbClr val="FFFFFF"/>
                </a:highlight>
              </a:rPr>
              <a:t>Helena Wu, Compliance and Claims Director: child-marketing and claims-review lead across all workstreams.</a:t>
            </a:r>
            <a:endParaRPr>
              <a:solidFill>
                <a:srgbClr val="333333"/>
              </a:solidFill>
              <a:highlight>
                <a:srgbClr val="FFFFFF"/>
              </a:highlight>
            </a:endParaRPr>
          </a:p>
          <a:p>
            <a:pPr indent="-317500" lvl="0" marL="457200" rtl="0" algn="l">
              <a:lnSpc>
                <a:spcPct val="115000"/>
              </a:lnSpc>
              <a:spcBef>
                <a:spcPts val="0"/>
              </a:spcBef>
              <a:spcAft>
                <a:spcPts val="0"/>
              </a:spcAft>
              <a:buClr>
                <a:srgbClr val="333333"/>
              </a:buClr>
              <a:buSzPts val="1400"/>
              <a:buChar char="●"/>
            </a:pPr>
            <a:r>
              <a:rPr lang="en-GB">
                <a:solidFill>
                  <a:srgbClr val="333333"/>
                </a:solidFill>
                <a:highlight>
                  <a:srgbClr val="FFFFFF"/>
                </a:highlight>
              </a:rPr>
              <a:t>Sofia Mendes, Strategy Director: audience framework, message architecture, and creative territory alignment.</a:t>
            </a:r>
            <a:endParaRPr>
              <a:solidFill>
                <a:srgbClr val="333333"/>
              </a:solidFill>
              <a:highlight>
                <a:srgbClr val="FFFFFF"/>
              </a:highlight>
            </a:endParaRPr>
          </a:p>
          <a:p>
            <a:pPr indent="-317500" lvl="0" marL="457200" rtl="0" algn="l">
              <a:lnSpc>
                <a:spcPct val="115000"/>
              </a:lnSpc>
              <a:spcBef>
                <a:spcPts val="0"/>
              </a:spcBef>
              <a:spcAft>
                <a:spcPts val="0"/>
              </a:spcAft>
              <a:buClr>
                <a:srgbClr val="333333"/>
              </a:buClr>
              <a:buSzPts val="1400"/>
              <a:buChar char="●"/>
            </a:pPr>
            <a:r>
              <a:rPr lang="en-GB">
                <a:solidFill>
                  <a:srgbClr val="333333"/>
                </a:solidFill>
                <a:highlight>
                  <a:srgbClr val="FFFFFF"/>
                </a:highlight>
              </a:rPr>
              <a:t>Bruno da Costa, Production Director: production-control lead across film, post, and cutdowns.</a:t>
            </a:r>
            <a:endParaRPr>
              <a:solidFill>
                <a:srgbClr val="333333"/>
              </a:solidFill>
              <a:highlight>
                <a:srgbClr val="FFFFFF"/>
              </a:highlight>
            </a:endParaRPr>
          </a:p>
          <a:p>
            <a:pPr indent="-317500" lvl="0" marL="457200" rtl="0" algn="l">
              <a:lnSpc>
                <a:spcPct val="115000"/>
              </a:lnSpc>
              <a:spcBef>
                <a:spcPts val="0"/>
              </a:spcBef>
              <a:spcAft>
                <a:spcPts val="0"/>
              </a:spcAft>
              <a:buClr>
                <a:srgbClr val="333333"/>
              </a:buClr>
              <a:buSzPts val="1400"/>
              <a:buChar char="●"/>
            </a:pPr>
            <a:r>
              <a:rPr lang="en-GB">
                <a:solidFill>
                  <a:srgbClr val="333333"/>
                </a:solidFill>
                <a:highlight>
                  <a:srgbClr val="FFFFFF"/>
                </a:highlight>
              </a:rPr>
              <a:t>Leila Grant, Channel Integration Lead: organic social, paid social/video, and launch asset orchestration.</a:t>
            </a:r>
            <a:endParaRPr>
              <a:solidFill>
                <a:srgbClr val="333333"/>
              </a:solidFill>
              <a:highlight>
                <a:srgbClr val="FFFFFF"/>
              </a:highlight>
            </a:endParaRPr>
          </a:p>
          <a:p>
            <a:pPr indent="0" lvl="0" marL="0" rtl="0" algn="l">
              <a:lnSpc>
                <a:spcPct val="120000"/>
              </a:lnSpc>
              <a:spcBef>
                <a:spcPts val="1700"/>
              </a:spcBef>
              <a:spcAft>
                <a:spcPts val="0"/>
              </a:spcAft>
              <a:buNone/>
            </a:pPr>
            <a:r>
              <a:rPr b="1" lang="en-GB">
                <a:solidFill>
                  <a:schemeClr val="dk1"/>
                </a:solidFill>
                <a:highlight>
                  <a:srgbClr val="FFFFFF"/>
                </a:highlight>
              </a:rPr>
              <a:t>Selected Relevant Work</a:t>
            </a:r>
            <a:endParaRPr b="1">
              <a:solidFill>
                <a:schemeClr val="dk1"/>
              </a:solidFill>
              <a:highlight>
                <a:srgbClr val="FFFFFF"/>
              </a:highlight>
            </a:endParaRPr>
          </a:p>
          <a:p>
            <a:pPr indent="-317500" lvl="0" marL="457200" rtl="0" algn="l">
              <a:lnSpc>
                <a:spcPct val="115000"/>
              </a:lnSpc>
              <a:spcBef>
                <a:spcPts val="1200"/>
              </a:spcBef>
              <a:spcAft>
                <a:spcPts val="0"/>
              </a:spcAft>
              <a:buClr>
                <a:srgbClr val="333333"/>
              </a:buClr>
              <a:buSzPts val="1400"/>
              <a:buChar char="●"/>
            </a:pPr>
            <a:r>
              <a:rPr lang="en-GB">
                <a:solidFill>
                  <a:srgbClr val="333333"/>
                </a:solidFill>
                <a:highlight>
                  <a:srgbClr val="FFFFFF"/>
                </a:highlight>
              </a:rPr>
              <a:t>Claims-sensitive pediatric nutrition campaign with embedded review gates from briefing through final release.</a:t>
            </a:r>
            <a:endParaRPr>
              <a:solidFill>
                <a:srgbClr val="333333"/>
              </a:solidFill>
              <a:highlight>
                <a:srgbClr val="FFFFFF"/>
              </a:highlight>
            </a:endParaRPr>
          </a:p>
          <a:p>
            <a:pPr indent="-317500" lvl="0" marL="457200" rtl="0" algn="l">
              <a:lnSpc>
                <a:spcPct val="115000"/>
              </a:lnSpc>
              <a:spcBef>
                <a:spcPts val="0"/>
              </a:spcBef>
              <a:spcAft>
                <a:spcPts val="0"/>
              </a:spcAft>
              <a:buClr>
                <a:srgbClr val="333333"/>
              </a:buClr>
              <a:buSzPts val="1400"/>
              <a:buChar char="●"/>
            </a:pPr>
            <a:r>
              <a:rPr lang="en-GB">
                <a:solidFill>
                  <a:srgbClr val="333333"/>
                </a:solidFill>
                <a:highlight>
                  <a:srgbClr val="FFFFFF"/>
                </a:highlight>
              </a:rPr>
              <a:t>Multi-stakeholder launch program where legal, studio, and media teams worked from one control register and approval rhythm.</a:t>
            </a:r>
            <a:endParaRPr>
              <a:solidFill>
                <a:srgbClr val="333333"/>
              </a:solidFill>
              <a:highlight>
                <a:srgbClr val="FFFFFF"/>
              </a:highlight>
            </a:endParaRPr>
          </a:p>
          <a:p>
            <a:pPr indent="-317500" lvl="0" marL="457200" rtl="0" algn="l">
              <a:lnSpc>
                <a:spcPct val="115000"/>
              </a:lnSpc>
              <a:spcBef>
                <a:spcPts val="0"/>
              </a:spcBef>
              <a:spcAft>
                <a:spcPts val="0"/>
              </a:spcAft>
              <a:buClr>
                <a:srgbClr val="333333"/>
              </a:buClr>
              <a:buSzPts val="1400"/>
              <a:buChar char="●"/>
            </a:pPr>
            <a:r>
              <a:rPr lang="en-GB">
                <a:solidFill>
                  <a:srgbClr val="333333"/>
                </a:solidFill>
                <a:highlight>
                  <a:srgbClr val="FFFFFF"/>
                </a:highlight>
              </a:rPr>
              <a:t>Family-health communications platform delivered across TV, digital, and paid social with strict approval sequencing.</a:t>
            </a:r>
            <a:endParaRPr>
              <a:solidFill>
                <a:srgbClr val="333333"/>
              </a:solidFill>
              <a:highlight>
                <a:srgbClr val="FFFFFF"/>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6"/>
          <p:cNvSpPr txBox="1"/>
          <p:nvPr/>
        </p:nvSpPr>
        <p:spPr>
          <a:xfrm>
            <a:off x="172125" y="164950"/>
            <a:ext cx="8713800" cy="48015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1700"/>
              </a:spcBef>
              <a:spcAft>
                <a:spcPts val="0"/>
              </a:spcAft>
              <a:buNone/>
            </a:pPr>
            <a:r>
              <a:rPr b="1" lang="en-GB" sz="900">
                <a:solidFill>
                  <a:schemeClr val="dk1"/>
                </a:solidFill>
                <a:highlight>
                  <a:srgbClr val="FFFFFF"/>
                </a:highlight>
              </a:rPr>
              <a:t>Questionnaire Responses</a:t>
            </a:r>
            <a:endParaRPr b="1" sz="900">
              <a:solidFill>
                <a:schemeClr val="dk1"/>
              </a:solidFill>
              <a:highlight>
                <a:srgbClr val="FFFFFF"/>
              </a:highlight>
            </a:endParaRPr>
          </a:p>
          <a:p>
            <a:pPr indent="0" lvl="0" marL="0" rtl="0" algn="l">
              <a:lnSpc>
                <a:spcPct val="120000"/>
              </a:lnSpc>
              <a:spcBef>
                <a:spcPts val="1300"/>
              </a:spcBef>
              <a:spcAft>
                <a:spcPts val="0"/>
              </a:spcAft>
              <a:buNone/>
            </a:pPr>
            <a:r>
              <a:rPr b="1" lang="en-GB" sz="900">
                <a:solidFill>
                  <a:schemeClr val="dk1"/>
                </a:solidFill>
                <a:highlight>
                  <a:srgbClr val="FFFFFF"/>
                </a:highlight>
              </a:rPr>
              <a:t>q_child_compliance | Child marketing compliance</a:t>
            </a:r>
            <a:endParaRPr b="1" sz="900">
              <a:solidFill>
                <a:schemeClr val="dk1"/>
              </a:solidFill>
              <a:highlight>
                <a:srgbClr val="FFFFFF"/>
              </a:highlight>
            </a:endParaRPr>
          </a:p>
          <a:p>
            <a:pPr indent="0" lvl="0" marL="0" rtl="0" algn="l">
              <a:lnSpc>
                <a:spcPct val="115000"/>
              </a:lnSpc>
              <a:spcBef>
                <a:spcPts val="1200"/>
              </a:spcBef>
              <a:spcAft>
                <a:spcPts val="0"/>
              </a:spcAft>
              <a:buNone/>
            </a:pPr>
            <a:r>
              <a:rPr b="1" lang="en-GB" sz="900">
                <a:solidFill>
                  <a:schemeClr val="dk1"/>
                </a:solidFill>
                <a:highlight>
                  <a:srgbClr val="FFFFFF"/>
                </a:highlight>
              </a:rPr>
              <a:t>Question:</a:t>
            </a:r>
            <a:r>
              <a:rPr lang="en-GB" sz="900">
                <a:solidFill>
                  <a:srgbClr val="333333"/>
                </a:solidFill>
                <a:highlight>
                  <a:srgbClr val="FFFFFF"/>
                </a:highlight>
              </a:rPr>
              <a:t> Select one option for your capability to support child-directed advertising compliance across launch assets and approvals: (a) Yes - delivered by our organisation, (b) Yes - delivered through a named specialist partner, or (c) No. If you select (b), provide the partner name.</a:t>
            </a:r>
            <a:endParaRPr sz="900">
              <a:solidFill>
                <a:srgbClr val="333333"/>
              </a:solidFill>
              <a:highlight>
                <a:srgbClr val="FFFFFF"/>
              </a:highlight>
            </a:endParaRPr>
          </a:p>
          <a:p>
            <a:pPr indent="0" lvl="0" marL="0" rtl="0" algn="l">
              <a:lnSpc>
                <a:spcPct val="115000"/>
              </a:lnSpc>
              <a:spcBef>
                <a:spcPts val="1200"/>
              </a:spcBef>
              <a:spcAft>
                <a:spcPts val="0"/>
              </a:spcAft>
              <a:buNone/>
            </a:pPr>
            <a:r>
              <a:rPr b="1" lang="en-GB" sz="900">
                <a:solidFill>
                  <a:schemeClr val="dk1"/>
                </a:solidFill>
                <a:highlight>
                  <a:srgbClr val="FFFFFF"/>
                </a:highlight>
              </a:rPr>
              <a:t>Response:</a:t>
            </a:r>
            <a:r>
              <a:rPr lang="en-GB" sz="900">
                <a:solidFill>
                  <a:srgbClr val="333333"/>
                </a:solidFill>
                <a:highlight>
                  <a:srgbClr val="FFFFFF"/>
                </a:highlight>
              </a:rPr>
              <a:t> Option selected: (a) Yes - delivered by our organisation. Child-directed advertising compliance will be delivered by our ChildSafe Communications Compliance Office.</a:t>
            </a:r>
            <a:endParaRPr sz="900">
              <a:solidFill>
                <a:srgbClr val="333333"/>
              </a:solidFill>
              <a:highlight>
                <a:srgbClr val="FFFFFF"/>
              </a:highlight>
            </a:endParaRPr>
          </a:p>
          <a:p>
            <a:pPr indent="0" lvl="0" marL="0" rtl="0" algn="l">
              <a:lnSpc>
                <a:spcPct val="120000"/>
              </a:lnSpc>
              <a:spcBef>
                <a:spcPts val="1300"/>
              </a:spcBef>
              <a:spcAft>
                <a:spcPts val="0"/>
              </a:spcAft>
              <a:buNone/>
            </a:pPr>
            <a:r>
              <a:rPr b="1" lang="en-GB" sz="900">
                <a:solidFill>
                  <a:schemeClr val="dk1"/>
                </a:solidFill>
                <a:highlight>
                  <a:srgbClr val="FFFFFF"/>
                </a:highlight>
              </a:rPr>
              <a:t>q_claims_review | Claims review capability</a:t>
            </a:r>
            <a:endParaRPr b="1" sz="900">
              <a:solidFill>
                <a:schemeClr val="dk1"/>
              </a:solidFill>
              <a:highlight>
                <a:srgbClr val="FFFFFF"/>
              </a:highlight>
            </a:endParaRPr>
          </a:p>
          <a:p>
            <a:pPr indent="0" lvl="0" marL="0" rtl="0" algn="l">
              <a:lnSpc>
                <a:spcPct val="115000"/>
              </a:lnSpc>
              <a:spcBef>
                <a:spcPts val="1200"/>
              </a:spcBef>
              <a:spcAft>
                <a:spcPts val="0"/>
              </a:spcAft>
              <a:buNone/>
            </a:pPr>
            <a:r>
              <a:rPr b="1" lang="en-GB" sz="900">
                <a:solidFill>
                  <a:schemeClr val="dk1"/>
                </a:solidFill>
                <a:highlight>
                  <a:srgbClr val="FFFFFF"/>
                </a:highlight>
              </a:rPr>
              <a:t>Question:</a:t>
            </a:r>
            <a:r>
              <a:rPr lang="en-GB" sz="900">
                <a:solidFill>
                  <a:srgbClr val="333333"/>
                </a:solidFill>
                <a:highlight>
                  <a:srgbClr val="FFFFFF"/>
                </a:highlight>
              </a:rPr>
              <a:t> Select one option for your capability to support product claims review for launch assets and related approvals: (a) Yes - delivered by our organisation, (b) Yes - delivered through a named specialist partner, or (c) No. If you select (b), provide the partner name.</a:t>
            </a:r>
            <a:endParaRPr sz="900">
              <a:solidFill>
                <a:srgbClr val="333333"/>
              </a:solidFill>
              <a:highlight>
                <a:srgbClr val="FFFFFF"/>
              </a:highlight>
            </a:endParaRPr>
          </a:p>
          <a:p>
            <a:pPr indent="0" lvl="0" marL="0" rtl="0" algn="l">
              <a:lnSpc>
                <a:spcPct val="115000"/>
              </a:lnSpc>
              <a:spcBef>
                <a:spcPts val="1200"/>
              </a:spcBef>
              <a:spcAft>
                <a:spcPts val="0"/>
              </a:spcAft>
              <a:buNone/>
            </a:pPr>
            <a:r>
              <a:rPr b="1" lang="en-GB" sz="900">
                <a:solidFill>
                  <a:schemeClr val="dk1"/>
                </a:solidFill>
                <a:highlight>
                  <a:srgbClr val="FFFFFF"/>
                </a:highlight>
              </a:rPr>
              <a:t>Response:</a:t>
            </a:r>
            <a:r>
              <a:rPr lang="en-GB" sz="900">
                <a:solidFill>
                  <a:srgbClr val="333333"/>
                </a:solidFill>
                <a:highlight>
                  <a:srgbClr val="FFFFFF"/>
                </a:highlight>
              </a:rPr>
              <a:t> Option selected: (a) Yes - delivered by our organisation. Product claims review will be delivered by our in-house nutrition claims and regulatory advisory team.</a:t>
            </a:r>
            <a:endParaRPr sz="900">
              <a:solidFill>
                <a:srgbClr val="333333"/>
              </a:solidFill>
              <a:highlight>
                <a:srgbClr val="FFFFFF"/>
              </a:highlight>
            </a:endParaRPr>
          </a:p>
          <a:p>
            <a:pPr indent="0" lvl="0" marL="0" rtl="0" algn="l">
              <a:lnSpc>
                <a:spcPct val="120000"/>
              </a:lnSpc>
              <a:spcBef>
                <a:spcPts val="1300"/>
              </a:spcBef>
              <a:spcAft>
                <a:spcPts val="0"/>
              </a:spcAft>
              <a:buNone/>
            </a:pPr>
            <a:r>
              <a:rPr b="1" lang="en-GB" sz="900">
                <a:solidFill>
                  <a:schemeClr val="dk1"/>
                </a:solidFill>
                <a:highlight>
                  <a:srgbClr val="FFFFFF"/>
                </a:highlight>
              </a:rPr>
              <a:t>q_launch_governance | Launch governance and speed</a:t>
            </a:r>
            <a:endParaRPr b="1" sz="900">
              <a:solidFill>
                <a:schemeClr val="dk1"/>
              </a:solidFill>
              <a:highlight>
                <a:srgbClr val="FFFFFF"/>
              </a:highlight>
            </a:endParaRPr>
          </a:p>
          <a:p>
            <a:pPr indent="0" lvl="0" marL="0" rtl="0" algn="l">
              <a:lnSpc>
                <a:spcPct val="115000"/>
              </a:lnSpc>
              <a:spcBef>
                <a:spcPts val="1200"/>
              </a:spcBef>
              <a:spcAft>
                <a:spcPts val="0"/>
              </a:spcAft>
              <a:buNone/>
            </a:pPr>
            <a:r>
              <a:rPr b="1" lang="en-GB" sz="900">
                <a:solidFill>
                  <a:schemeClr val="dk1"/>
                </a:solidFill>
                <a:highlight>
                  <a:srgbClr val="FFFFFF"/>
                </a:highlight>
              </a:rPr>
              <a:t>Question:</a:t>
            </a:r>
            <a:r>
              <a:rPr lang="en-GB" sz="900">
                <a:solidFill>
                  <a:srgbClr val="333333"/>
                </a:solidFill>
                <a:highlight>
                  <a:srgbClr val="FFFFFF"/>
                </a:highlight>
              </a:rPr>
              <a:t> Provide your proposed launch governance and approval-management plan for this scope, including key milestones, critical path, approval routing, escalation approach, and the actions you will take to protect the stated launch calendar.</a:t>
            </a:r>
            <a:endParaRPr sz="900">
              <a:solidFill>
                <a:srgbClr val="333333"/>
              </a:solidFill>
              <a:highlight>
                <a:srgbClr val="FFFFFF"/>
              </a:highlight>
            </a:endParaRPr>
          </a:p>
          <a:p>
            <a:pPr indent="0" lvl="0" marL="0" rtl="0" algn="l">
              <a:lnSpc>
                <a:spcPct val="115000"/>
              </a:lnSpc>
              <a:spcBef>
                <a:spcPts val="1200"/>
              </a:spcBef>
              <a:spcAft>
                <a:spcPts val="1200"/>
              </a:spcAft>
              <a:buNone/>
            </a:pPr>
            <a:r>
              <a:rPr b="1" lang="en-GB" sz="900">
                <a:solidFill>
                  <a:schemeClr val="dk1"/>
                </a:solidFill>
                <a:highlight>
                  <a:srgbClr val="FFFFFF"/>
                </a:highlight>
              </a:rPr>
              <a:t>Response:</a:t>
            </a:r>
            <a:r>
              <a:rPr lang="en-GB" sz="900">
                <a:solidFill>
                  <a:srgbClr val="333333"/>
                </a:solidFill>
                <a:highlight>
                  <a:srgbClr val="FFFFFF"/>
                </a:highlight>
              </a:rPr>
              <a:t> We would manage the launch through a controlled six-stage governance path: mobilization, strategic architecture, campaign territory approval, production authorization, adaptation and channel readiness, and final launch release. The critical path is visible at task, approver, and dependency level, with separate control points for claims wording, storyboard and script clearance, shoot readiness, rough-cut approval, final cut sign-off, and market release. Approval routing uses a pre-read and recommendation note before every formal gate so decision meetings stay short and decisive. Escalation runs from workstream lead to PMO director to Michael Osei and buyer sponsor within the same business day. To protect the launch calendar, we maintain pre-cleared backup content modules, reserve post-production capacity, and isolate non-critical local adaptation work from the master release stream whenever timing pressure appears.</a:t>
            </a:r>
            <a:endParaRPr sz="900">
              <a:solidFill>
                <a:srgbClr val="333333"/>
              </a:solidFill>
              <a:highlight>
                <a:srgbClr val="FFFFFF"/>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7"/>
          <p:cNvSpPr txBox="1"/>
          <p:nvPr/>
        </p:nvSpPr>
        <p:spPr>
          <a:xfrm>
            <a:off x="121950" y="882150"/>
            <a:ext cx="8900100" cy="35091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1300"/>
              </a:spcBef>
              <a:spcAft>
                <a:spcPts val="0"/>
              </a:spcAft>
              <a:buNone/>
            </a:pPr>
            <a:r>
              <a:rPr b="1" lang="en-GB" sz="900">
                <a:solidFill>
                  <a:schemeClr val="dk1"/>
                </a:solidFill>
                <a:highlight>
                  <a:srgbClr val="FFFFFF"/>
                </a:highlight>
              </a:rPr>
              <a:t>q_integrated_delivery | Integrated delivery model</a:t>
            </a:r>
            <a:endParaRPr b="1" sz="900">
              <a:solidFill>
                <a:schemeClr val="dk1"/>
              </a:solidFill>
              <a:highlight>
                <a:srgbClr val="FFFFFF"/>
              </a:highlight>
            </a:endParaRPr>
          </a:p>
          <a:p>
            <a:pPr indent="0" lvl="0" marL="0" rtl="0" algn="l">
              <a:lnSpc>
                <a:spcPct val="115000"/>
              </a:lnSpc>
              <a:spcBef>
                <a:spcPts val="1200"/>
              </a:spcBef>
              <a:spcAft>
                <a:spcPts val="0"/>
              </a:spcAft>
              <a:buNone/>
            </a:pPr>
            <a:r>
              <a:rPr b="1" lang="en-GB" sz="900">
                <a:solidFill>
                  <a:schemeClr val="dk1"/>
                </a:solidFill>
                <a:highlight>
                  <a:srgbClr val="FFFFFF"/>
                </a:highlight>
              </a:rPr>
              <a:t>Question:</a:t>
            </a:r>
            <a:r>
              <a:rPr lang="en-GB" sz="900">
                <a:solidFill>
                  <a:srgbClr val="333333"/>
                </a:solidFill>
                <a:highlight>
                  <a:srgbClr val="FFFFFF"/>
                </a:highlight>
              </a:rPr>
              <a:t> Describe the operating model you will use to coordinate strategy, creative, TVC development and production, organic social, paid media planning and buying, compliance review, and launch program management as one integrated launch program.</a:t>
            </a:r>
            <a:endParaRPr sz="900">
              <a:solidFill>
                <a:srgbClr val="333333"/>
              </a:solidFill>
              <a:highlight>
                <a:srgbClr val="FFFFFF"/>
              </a:highlight>
            </a:endParaRPr>
          </a:p>
          <a:p>
            <a:pPr indent="0" lvl="0" marL="0" rtl="0" algn="l">
              <a:lnSpc>
                <a:spcPct val="115000"/>
              </a:lnSpc>
              <a:spcBef>
                <a:spcPts val="1200"/>
              </a:spcBef>
              <a:spcAft>
                <a:spcPts val="0"/>
              </a:spcAft>
              <a:buNone/>
            </a:pPr>
            <a:r>
              <a:rPr b="1" lang="en-GB" sz="900">
                <a:solidFill>
                  <a:schemeClr val="dk1"/>
                </a:solidFill>
                <a:highlight>
                  <a:srgbClr val="FFFFFF"/>
                </a:highlight>
              </a:rPr>
              <a:t>Response:</a:t>
            </a:r>
            <a:r>
              <a:rPr lang="en-GB" sz="900">
                <a:solidFill>
                  <a:srgbClr val="333333"/>
                </a:solidFill>
                <a:highlight>
                  <a:srgbClr val="FFFFFF"/>
                </a:highlight>
              </a:rPr>
              <a:t> ChildSafe uses one integrated program architecture rather than a chain of functional handoffs. Strategy, creative, production, social, media, claims review, and PMO all work from one governed workback schedule, one shared risk register, one decision log, and one launch dashboard. Every workstream has a named lead, but the client does not need to orchestrate the interfaces because all dependencies are coordinated through the program office. Compliance and claims review are embedded into briefing, territory selection, script development, production readiness, and release management, which reduces late-stage rework. Organic and paid activation are developed from the same campaign system so audience logic, creative asset planning, and measurement all connect cleanly.</a:t>
            </a:r>
            <a:endParaRPr sz="900">
              <a:solidFill>
                <a:srgbClr val="333333"/>
              </a:solidFill>
              <a:highlight>
                <a:srgbClr val="FFFFFF"/>
              </a:highlight>
            </a:endParaRPr>
          </a:p>
          <a:p>
            <a:pPr indent="0" lvl="0" marL="0" rtl="0" algn="l">
              <a:lnSpc>
                <a:spcPct val="120000"/>
              </a:lnSpc>
              <a:spcBef>
                <a:spcPts val="1300"/>
              </a:spcBef>
              <a:spcAft>
                <a:spcPts val="0"/>
              </a:spcAft>
              <a:buNone/>
            </a:pPr>
            <a:r>
              <a:rPr b="1" lang="en-GB" sz="900">
                <a:solidFill>
                  <a:schemeClr val="dk1"/>
                </a:solidFill>
                <a:highlight>
                  <a:srgbClr val="FFFFFF"/>
                </a:highlight>
              </a:rPr>
              <a:t>q_campaign_solution | Campaign solution quality</a:t>
            </a:r>
            <a:endParaRPr b="1" sz="900">
              <a:solidFill>
                <a:schemeClr val="dk1"/>
              </a:solidFill>
              <a:highlight>
                <a:srgbClr val="FFFFFF"/>
              </a:highlight>
            </a:endParaRPr>
          </a:p>
          <a:p>
            <a:pPr indent="0" lvl="0" marL="0" rtl="0" algn="l">
              <a:lnSpc>
                <a:spcPct val="115000"/>
              </a:lnSpc>
              <a:spcBef>
                <a:spcPts val="1200"/>
              </a:spcBef>
              <a:spcAft>
                <a:spcPts val="0"/>
              </a:spcAft>
              <a:buNone/>
            </a:pPr>
            <a:r>
              <a:rPr b="1" lang="en-GB" sz="900">
                <a:solidFill>
                  <a:schemeClr val="dk1"/>
                </a:solidFill>
                <a:highlight>
                  <a:srgbClr val="FFFFFF"/>
                </a:highlight>
              </a:rPr>
              <a:t>Question:</a:t>
            </a:r>
            <a:r>
              <a:rPr lang="en-GB" sz="900">
                <a:solidFill>
                  <a:srgbClr val="333333"/>
                </a:solidFill>
                <a:highlight>
                  <a:srgbClr val="FFFFFF"/>
                </a:highlight>
              </a:rPr>
              <a:t> Describe your proposed global launch solution across strategy, messaging, creative territory, TVC, organic social, and paid social/video, showing how the workstreams connect into one launch campaign.</a:t>
            </a:r>
            <a:endParaRPr sz="900">
              <a:solidFill>
                <a:srgbClr val="333333"/>
              </a:solidFill>
              <a:highlight>
                <a:srgbClr val="FFFFFF"/>
              </a:highlight>
            </a:endParaRPr>
          </a:p>
          <a:p>
            <a:pPr indent="0" lvl="0" marL="0" rtl="0" algn="l">
              <a:lnSpc>
                <a:spcPct val="115000"/>
              </a:lnSpc>
              <a:spcBef>
                <a:spcPts val="1200"/>
              </a:spcBef>
              <a:spcAft>
                <a:spcPts val="1200"/>
              </a:spcAft>
              <a:buNone/>
            </a:pPr>
            <a:r>
              <a:rPr b="1" lang="en-GB" sz="900">
                <a:solidFill>
                  <a:schemeClr val="dk1"/>
                </a:solidFill>
                <a:highlight>
                  <a:srgbClr val="FFFFFF"/>
                </a:highlight>
              </a:rPr>
              <a:t>Response:</a:t>
            </a:r>
            <a:r>
              <a:rPr lang="en-GB" sz="900">
                <a:solidFill>
                  <a:srgbClr val="333333"/>
                </a:solidFill>
                <a:highlight>
                  <a:srgbClr val="FFFFFF"/>
                </a:highlight>
              </a:rPr>
              <a:t> Our launch solution uses </a:t>
            </a:r>
            <a:r>
              <a:rPr b="1" lang="en-GB" sz="900">
                <a:solidFill>
                  <a:schemeClr val="dk1"/>
                </a:solidFill>
                <a:highlight>
                  <a:srgbClr val="FFFFFF"/>
                </a:highlight>
              </a:rPr>
              <a:t>Ready for Every Day</a:t>
            </a:r>
            <a:r>
              <a:rPr lang="en-GB" sz="900">
                <a:solidFill>
                  <a:srgbClr val="333333"/>
                </a:solidFill>
                <a:highlight>
                  <a:srgbClr val="FFFFFF"/>
                </a:highlight>
              </a:rPr>
              <a:t> to position the new kids health drink as a trusted daily-support product grounded in family confidence and repeatable routine moments. The strategy starts with caregiver reassurance, then layers kid-positive energy and usability cues into a controlled message hierarchy. The TVC would establish the central campaign world and message tone, while organic social turns the same territory into practical routines, seasonal moments, and short-format content themes. Paid social and video then amplify the campaign through audience-fit edits and channel-appropriate storytelling built from the same core asset system. The workstreams connect through one message architecture, one visual world, and one compliant claims framework rather than separate channel ideas.</a:t>
            </a:r>
            <a:endParaRPr sz="900">
              <a:solidFill>
                <a:srgbClr val="333333"/>
              </a:solidFill>
              <a:highlight>
                <a:srgbClr val="FFFFFF"/>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graphicFrame>
        <p:nvGraphicFramePr>
          <p:cNvPr id="79" name="Google Shape;79;p18"/>
          <p:cNvGraphicFramePr/>
          <p:nvPr/>
        </p:nvGraphicFramePr>
        <p:xfrm>
          <a:off x="668200" y="537000"/>
          <a:ext cx="3000000" cy="3000000"/>
        </p:xfrm>
        <a:graphic>
          <a:graphicData uri="http://schemas.openxmlformats.org/drawingml/2006/table">
            <a:tbl>
              <a:tblPr>
                <a:solidFill>
                  <a:srgbClr val="FFFFFF"/>
                </a:solidFill>
                <a:tableStyleId>{EAB9B7ED-6918-413F-8D57-BBEF7FC71053}</a:tableStyleId>
              </a:tblPr>
              <a:tblGrid>
                <a:gridCol w="965975"/>
                <a:gridCol w="2817375"/>
                <a:gridCol w="990100"/>
                <a:gridCol w="1216950"/>
                <a:gridCol w="875950"/>
                <a:gridCol w="845200"/>
              </a:tblGrid>
              <a:tr h="614425">
                <a:tc>
                  <a:txBody>
                    <a:bodyPr/>
                    <a:lstStyle/>
                    <a:p>
                      <a:pPr indent="0" lvl="0" marL="0" rtl="0" algn="ctr">
                        <a:lnSpc>
                          <a:spcPct val="115000"/>
                        </a:lnSpc>
                        <a:spcBef>
                          <a:spcPts val="800"/>
                        </a:spcBef>
                        <a:spcAft>
                          <a:spcPts val="1100"/>
                        </a:spcAft>
                        <a:buNone/>
                      </a:pPr>
                      <a:r>
                        <a:rPr b="1" lang="en-GB" sz="1000">
                          <a:highlight>
                            <a:srgbClr val="FFFFFF"/>
                          </a:highlight>
                        </a:rPr>
                        <a:t>Line item ref</a:t>
                      </a:r>
                      <a:endParaRPr b="1" sz="1000">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ctr">
                        <a:lnSpc>
                          <a:spcPct val="115000"/>
                        </a:lnSpc>
                        <a:spcBef>
                          <a:spcPts val="800"/>
                        </a:spcBef>
                        <a:spcAft>
                          <a:spcPts val="1100"/>
                        </a:spcAft>
                        <a:buNone/>
                      </a:pPr>
                      <a:r>
                        <a:rPr b="1" lang="en-GB" sz="1000">
                          <a:highlight>
                            <a:srgbClr val="FFFFFF"/>
                          </a:highlight>
                        </a:rPr>
                        <a:t>Line item name</a:t>
                      </a:r>
                      <a:endParaRPr b="1" sz="800">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ctr">
                        <a:lnSpc>
                          <a:spcPct val="115000"/>
                        </a:lnSpc>
                        <a:spcBef>
                          <a:spcPts val="800"/>
                        </a:spcBef>
                        <a:spcAft>
                          <a:spcPts val="1100"/>
                        </a:spcAft>
                        <a:buNone/>
                      </a:pPr>
                      <a:r>
                        <a:rPr b="1" lang="en-GB" sz="1000">
                          <a:highlight>
                            <a:srgbClr val="FFFFFF"/>
                          </a:highlight>
                        </a:rPr>
                        <a:t>Quote status</a:t>
                      </a:r>
                      <a:endParaRPr b="1" sz="1000">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ctr">
                        <a:lnSpc>
                          <a:spcPct val="115000"/>
                        </a:lnSpc>
                        <a:spcBef>
                          <a:spcPts val="800"/>
                        </a:spcBef>
                        <a:spcAft>
                          <a:spcPts val="1100"/>
                        </a:spcAft>
                        <a:buNone/>
                      </a:pPr>
                      <a:r>
                        <a:rPr b="1" lang="en-GB" sz="1000">
                          <a:highlight>
                            <a:srgbClr val="FFFFFF"/>
                          </a:highlight>
                        </a:rPr>
                        <a:t>Included in line ref</a:t>
                      </a:r>
                      <a:endParaRPr b="1" sz="1000">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ctr">
                        <a:lnSpc>
                          <a:spcPct val="115000"/>
                        </a:lnSpc>
                        <a:spcBef>
                          <a:spcPts val="800"/>
                        </a:spcBef>
                        <a:spcAft>
                          <a:spcPts val="1100"/>
                        </a:spcAft>
                        <a:buNone/>
                      </a:pPr>
                      <a:r>
                        <a:rPr b="1" lang="en-GB" sz="1000">
                          <a:highlight>
                            <a:srgbClr val="FFFFFF"/>
                          </a:highlight>
                        </a:rPr>
                        <a:t>Currency</a:t>
                      </a:r>
                      <a:endParaRPr b="1" sz="1000">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ctr">
                        <a:lnSpc>
                          <a:spcPct val="115000"/>
                        </a:lnSpc>
                        <a:spcBef>
                          <a:spcPts val="800"/>
                        </a:spcBef>
                        <a:spcAft>
                          <a:spcPts val="1100"/>
                        </a:spcAft>
                        <a:buNone/>
                      </a:pPr>
                      <a:r>
                        <a:rPr b="1" lang="en-GB" sz="1000">
                          <a:highlight>
                            <a:srgbClr val="FFFFFF"/>
                          </a:highlight>
                        </a:rPr>
                        <a:t>Total price</a:t>
                      </a:r>
                      <a:endParaRPr b="1" sz="1000">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r>
              <a:tr h="442100">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li_1</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Strategy &amp; Creative Development</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Priced</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spcBef>
                          <a:spcPts val="0"/>
                        </a:spcBef>
                        <a:spcAft>
                          <a:spcPts val="0"/>
                        </a:spcAft>
                        <a:buNone/>
                      </a:pPr>
                      <a:r>
                        <a:t/>
                      </a:r>
                      <a:endParaRPr sz="1200"/>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USD</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395000</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r>
              <a:tr h="442100">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li_2</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TVC Development</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Priced</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spcBef>
                          <a:spcPts val="0"/>
                        </a:spcBef>
                        <a:spcAft>
                          <a:spcPts val="0"/>
                        </a:spcAft>
                        <a:buNone/>
                      </a:pPr>
                      <a:r>
                        <a:t/>
                      </a:r>
                      <a:endParaRPr sz="1200"/>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USD</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270000</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r>
              <a:tr h="442100">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li_3</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TVC Production</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Priced</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spcBef>
                          <a:spcPts val="0"/>
                        </a:spcBef>
                        <a:spcAft>
                          <a:spcPts val="0"/>
                        </a:spcAft>
                        <a:buNone/>
                      </a:pPr>
                      <a:r>
                        <a:t/>
                      </a:r>
                      <a:endParaRPr sz="1200"/>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USD</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835000</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r>
              <a:tr h="442100">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li_4</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Social Organic Content</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Priced</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spcBef>
                          <a:spcPts val="0"/>
                        </a:spcBef>
                        <a:spcAft>
                          <a:spcPts val="0"/>
                        </a:spcAft>
                        <a:buNone/>
                      </a:pPr>
                      <a:r>
                        <a:t/>
                      </a:r>
                      <a:endParaRPr sz="1200"/>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USD</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190000</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r>
              <a:tr h="442100">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li_5</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Social Paid Media Planning</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Priced</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spcBef>
                          <a:spcPts val="0"/>
                        </a:spcBef>
                        <a:spcAft>
                          <a:spcPts val="0"/>
                        </a:spcAft>
                        <a:buNone/>
                      </a:pPr>
                      <a:r>
                        <a:t/>
                      </a:r>
                      <a:endParaRPr sz="1200"/>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USD</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168000</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r>
              <a:tr h="442100">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li_6</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Social Paid Media Buying &amp; Optimization</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Priced</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spcBef>
                          <a:spcPts val="0"/>
                        </a:spcBef>
                        <a:spcAft>
                          <a:spcPts val="0"/>
                        </a:spcAft>
                        <a:buNone/>
                      </a:pPr>
                      <a:r>
                        <a:t/>
                      </a:r>
                      <a:endParaRPr sz="1200"/>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USD</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295000</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r>
              <a:tr h="614425">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li_7</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Kids Advertising &amp; Claims Compliance Review</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Priced</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spcBef>
                          <a:spcPts val="0"/>
                        </a:spcBef>
                        <a:spcAft>
                          <a:spcPts val="0"/>
                        </a:spcAft>
                        <a:buNone/>
                      </a:pPr>
                      <a:r>
                        <a:t/>
                      </a:r>
                      <a:endParaRPr sz="1200"/>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USD</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248000</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r>
              <a:tr h="442100">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li_8</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Launch Program Management</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Priced</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spcBef>
                          <a:spcPts val="0"/>
                        </a:spcBef>
                        <a:spcAft>
                          <a:spcPts val="0"/>
                        </a:spcAft>
                        <a:buNone/>
                      </a:pPr>
                      <a:r>
                        <a:t/>
                      </a:r>
                      <a:endParaRPr sz="1200"/>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USD</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245000</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r>
            </a:tbl>
          </a:graphicData>
        </a:graphic>
      </p:graphicFrame>
      <p:sp>
        <p:nvSpPr>
          <p:cNvPr id="80" name="Google Shape;80;p18"/>
          <p:cNvSpPr txBox="1"/>
          <p:nvPr/>
        </p:nvSpPr>
        <p:spPr>
          <a:xfrm>
            <a:off x="0" y="0"/>
            <a:ext cx="5645700" cy="4002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1700"/>
              </a:spcBef>
              <a:spcAft>
                <a:spcPts val="1200"/>
              </a:spcAft>
              <a:buNone/>
            </a:pPr>
            <a:r>
              <a:rPr b="1" lang="en-GB">
                <a:solidFill>
                  <a:schemeClr val="dk1"/>
                </a:solidFill>
                <a:highlight>
                  <a:srgbClr val="FFFFFF"/>
                </a:highlight>
              </a:rPr>
              <a:t>Commercial Pricing Schedule</a:t>
            </a:r>
            <a:endParaRPr b="1">
              <a:solidFill>
                <a:schemeClr val="dk1"/>
              </a:solidFill>
              <a:highlight>
                <a:srgbClr val="FFFFFF"/>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graphicFrame>
        <p:nvGraphicFramePr>
          <p:cNvPr id="85" name="Google Shape;85;p19"/>
          <p:cNvGraphicFramePr/>
          <p:nvPr/>
        </p:nvGraphicFramePr>
        <p:xfrm>
          <a:off x="224125" y="776275"/>
          <a:ext cx="3000000" cy="3000000"/>
        </p:xfrm>
        <a:graphic>
          <a:graphicData uri="http://schemas.openxmlformats.org/drawingml/2006/table">
            <a:tbl>
              <a:tblPr>
                <a:solidFill>
                  <a:srgbClr val="FFFFFF"/>
                </a:solidFill>
                <a:tableStyleId>{EAB9B7ED-6918-413F-8D57-BBEF7FC71053}</a:tableStyleId>
              </a:tblPr>
              <a:tblGrid>
                <a:gridCol w="1037225"/>
                <a:gridCol w="786550"/>
                <a:gridCol w="570475"/>
                <a:gridCol w="5903475"/>
              </a:tblGrid>
              <a:tr h="461575">
                <a:tc>
                  <a:txBody>
                    <a:bodyPr/>
                    <a:lstStyle/>
                    <a:p>
                      <a:pPr indent="0" lvl="0" marL="0" rtl="0" algn="ctr">
                        <a:lnSpc>
                          <a:spcPct val="115000"/>
                        </a:lnSpc>
                        <a:spcBef>
                          <a:spcPts val="800"/>
                        </a:spcBef>
                        <a:spcAft>
                          <a:spcPts val="1100"/>
                        </a:spcAft>
                        <a:buNone/>
                      </a:pPr>
                      <a:r>
                        <a:rPr b="1" lang="en-GB" sz="1000">
                          <a:highlight>
                            <a:srgbClr val="FFFFFF"/>
                          </a:highlight>
                        </a:rPr>
                        <a:t>Line item ref</a:t>
                      </a:r>
                      <a:endParaRPr b="1" sz="1000">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ctr">
                        <a:lnSpc>
                          <a:spcPct val="115000"/>
                        </a:lnSpc>
                        <a:spcBef>
                          <a:spcPts val="800"/>
                        </a:spcBef>
                        <a:spcAft>
                          <a:spcPts val="1100"/>
                        </a:spcAft>
                        <a:buNone/>
                      </a:pPr>
                      <a:r>
                        <a:rPr b="1" lang="en-GB" sz="1000">
                          <a:highlight>
                            <a:srgbClr val="FFFFFF"/>
                          </a:highlight>
                        </a:rPr>
                        <a:t>Quantity</a:t>
                      </a:r>
                      <a:endParaRPr b="1" sz="1000">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ctr">
                        <a:lnSpc>
                          <a:spcPct val="115000"/>
                        </a:lnSpc>
                        <a:spcBef>
                          <a:spcPts val="800"/>
                        </a:spcBef>
                        <a:spcAft>
                          <a:spcPts val="1100"/>
                        </a:spcAft>
                        <a:buNone/>
                      </a:pPr>
                      <a:r>
                        <a:rPr b="1" lang="en-GB" sz="1000">
                          <a:highlight>
                            <a:srgbClr val="FFFFFF"/>
                          </a:highlight>
                        </a:rPr>
                        <a:t>UOM</a:t>
                      </a:r>
                      <a:endParaRPr b="1" sz="1000">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ctr">
                        <a:lnSpc>
                          <a:spcPct val="115000"/>
                        </a:lnSpc>
                        <a:spcBef>
                          <a:spcPts val="800"/>
                        </a:spcBef>
                        <a:spcAft>
                          <a:spcPts val="1100"/>
                        </a:spcAft>
                        <a:buNone/>
                      </a:pPr>
                      <a:r>
                        <a:rPr b="1" lang="en-GB" sz="1000">
                          <a:highlight>
                            <a:srgbClr val="FFFFFF"/>
                          </a:highlight>
                        </a:rPr>
                        <a:t>Exclusions or assumptions</a:t>
                      </a:r>
                      <a:endParaRPr b="1" sz="1000">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r>
              <a:tr h="398225">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li_1</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1</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Lot</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Compliance-first strategic development and campaign architecture included.</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r>
              <a:tr h="398225">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li_2</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1</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Lot</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Includes concept, script, storyboard, and approval-prep materials.</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r>
              <a:tr h="443475">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li_3</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1</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Lot</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Excludes celebrity talent, bespoke music rights, and extraordinary travel or location premiums.</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r>
              <a:tr h="398225">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li_4</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1</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Lot</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Includes organic adaptation pack for launch-window channels.</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r>
              <a:tr h="398225">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li_5</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1</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Lot</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Includes paid planning, audience logic, phasing, and reporting design.</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r>
              <a:tr h="398225">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li_6</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1</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Lot</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Working media spend excluded; fee covers activation management and optimization.</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r>
              <a:tr h="398225">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li_7</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1</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Lot</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Includes senior claims counsel and market alignment workflow.</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r>
              <a:tr h="398225">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li_8</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1</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Lot</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c>
                  <a:txBody>
                    <a:bodyPr/>
                    <a:lstStyle/>
                    <a:p>
                      <a:pPr indent="0" lvl="0" marL="0" rtl="0" algn="l">
                        <a:lnSpc>
                          <a:spcPct val="115000"/>
                        </a:lnSpc>
                        <a:spcBef>
                          <a:spcPts val="800"/>
                        </a:spcBef>
                        <a:spcAft>
                          <a:spcPts val="1100"/>
                        </a:spcAft>
                        <a:buNone/>
                      </a:pPr>
                      <a:r>
                        <a:rPr lang="en-GB" sz="1000">
                          <a:solidFill>
                            <a:srgbClr val="333333"/>
                          </a:solidFill>
                          <a:highlight>
                            <a:srgbClr val="FFFFFF"/>
                          </a:highlight>
                        </a:rPr>
                        <a:t>Includes full PMO controls, reporting, and governance forum management.</a:t>
                      </a:r>
                      <a:endParaRPr sz="1000">
                        <a:solidFill>
                          <a:srgbClr val="333333"/>
                        </a:solidFill>
                        <a:highlight>
                          <a:srgbClr val="FFFFFF"/>
                        </a:highlight>
                      </a:endParaRPr>
                    </a:p>
                  </a:txBody>
                  <a:tcPr marT="0" marB="0" marR="123825" marL="123825">
                    <a:lnL cap="flat" cmpd="sng" w="9525">
                      <a:solidFill>
                        <a:srgbClr val="D6D6D6"/>
                      </a:solidFill>
                      <a:prstDash val="solid"/>
                      <a:round/>
                      <a:headEnd len="sm" w="sm" type="none"/>
                      <a:tailEnd len="sm" w="sm" type="none"/>
                    </a:lnL>
                    <a:lnR cap="flat" cmpd="sng" w="9525">
                      <a:solidFill>
                        <a:srgbClr val="D6D6D6"/>
                      </a:solidFill>
                      <a:prstDash val="solid"/>
                      <a:round/>
                      <a:headEnd len="sm" w="sm" type="none"/>
                      <a:tailEnd len="sm" w="sm" type="none"/>
                    </a:lnR>
                    <a:lnT cap="flat" cmpd="sng" w="9525">
                      <a:solidFill>
                        <a:srgbClr val="D6D6D6"/>
                      </a:solidFill>
                      <a:prstDash val="solid"/>
                      <a:round/>
                      <a:headEnd len="sm" w="sm" type="none"/>
                      <a:tailEnd len="sm" w="sm" type="none"/>
                    </a:lnT>
                    <a:lnB cap="flat" cmpd="sng" w="9525">
                      <a:solidFill>
                        <a:srgbClr val="D6D6D6"/>
                      </a:solidFill>
                      <a:prstDash val="solid"/>
                      <a:round/>
                      <a:headEnd len="sm" w="sm" type="none"/>
                      <a:tailEnd len="sm" w="sm" type="none"/>
                    </a:lnB>
                  </a:tcPr>
                </a:tc>
              </a:tr>
            </a:tbl>
          </a:graphicData>
        </a:graphic>
      </p:graphicFrame>
      <p:sp>
        <p:nvSpPr>
          <p:cNvPr id="86" name="Google Shape;86;p19"/>
          <p:cNvSpPr txBox="1"/>
          <p:nvPr/>
        </p:nvSpPr>
        <p:spPr>
          <a:xfrm>
            <a:off x="294050" y="13625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1700"/>
              </a:spcBef>
              <a:spcAft>
                <a:spcPts val="1200"/>
              </a:spcAft>
              <a:buNone/>
            </a:pPr>
            <a:r>
              <a:rPr b="1" lang="en-GB">
                <a:solidFill>
                  <a:schemeClr val="dk1"/>
                </a:solidFill>
                <a:highlight>
                  <a:srgbClr val="FFFFFF"/>
                </a:highlight>
              </a:rPr>
              <a:t>Commercial Pricing Detail</a:t>
            </a:r>
            <a:endParaRPr b="1">
              <a:solidFill>
                <a:schemeClr val="dk1"/>
              </a:solidFill>
              <a:highlight>
                <a:srgbClr val="FFFFFF"/>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0"/>
          <p:cNvSpPr txBox="1"/>
          <p:nvPr/>
        </p:nvSpPr>
        <p:spPr>
          <a:xfrm>
            <a:off x="1757075" y="1312425"/>
            <a:ext cx="4496700" cy="1714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1700"/>
              </a:spcBef>
              <a:spcAft>
                <a:spcPts val="0"/>
              </a:spcAft>
              <a:buNone/>
            </a:pPr>
            <a:r>
              <a:rPr b="1" lang="en-GB" sz="3000">
                <a:solidFill>
                  <a:schemeClr val="dk1"/>
                </a:solidFill>
                <a:highlight>
                  <a:srgbClr val="FFFFFF"/>
                </a:highlight>
              </a:rPr>
              <a:t>Closing Note</a:t>
            </a:r>
            <a:endParaRPr b="1" sz="3000">
              <a:solidFill>
                <a:schemeClr val="dk1"/>
              </a:solidFill>
              <a:highlight>
                <a:srgbClr val="FFFFFF"/>
              </a:highlight>
            </a:endParaRPr>
          </a:p>
          <a:p>
            <a:pPr indent="0" lvl="0" marL="0" rtl="0" algn="l">
              <a:lnSpc>
                <a:spcPct val="115000"/>
              </a:lnSpc>
              <a:spcBef>
                <a:spcPts val="1200"/>
              </a:spcBef>
              <a:spcAft>
                <a:spcPts val="1200"/>
              </a:spcAft>
              <a:buNone/>
            </a:pPr>
            <a:r>
              <a:rPr lang="en-GB" sz="1200">
                <a:solidFill>
                  <a:srgbClr val="333333"/>
                </a:solidFill>
                <a:highlight>
                  <a:srgbClr val="FFFFFF"/>
                </a:highlight>
              </a:rPr>
              <a:t>ChildSafe believes this is the most secure technical route to launch, particularly where the buyer values auditability, approval control, and integrated compliance discipline. Our pricing reflects that heavier governance and specialist-review model.</a:t>
            </a:r>
            <a:endParaRPr sz="1200">
              <a:solidFill>
                <a:srgbClr val="333333"/>
              </a:solidFill>
              <a:highlight>
                <a:srgbClr val="FFFFFF"/>
              </a:highlight>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